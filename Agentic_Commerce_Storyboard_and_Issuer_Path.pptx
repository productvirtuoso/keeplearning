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 and functional path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before/after frames of a day-in-the-life purchase, then the Mastercard Agent Pay path from user instruction to the transaction in the issuer app.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6F9FC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22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 frames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498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→ cart → credential → fulfillment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7033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6F9FC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3822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05–06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4114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diagrams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4498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(Stripe) and original dark render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37033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6F9FC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3822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07–09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4114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slides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4498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flow, swimlane, issuer control points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6692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 the August 2026 primer  ·  Agent Pay first live Sep 2025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  ·  FRAME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formation — the click disappears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+ TRUST</a:t>
            </a:r>
            <a:endParaRPr lang="en-US" sz="1000" dirty="0"/>
          </a:p>
        </p:txBody>
      </p:sp>
      <p:pic>
        <p:nvPicPr>
          <p:cNvPr id="9" name="Image 0" descr="/home/workdir/artifacts/rendered/KpDc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443" y="786384"/>
            <a:ext cx="8064635" cy="54132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6272784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tab-heavy search and a half-filled checkout. Right: one signed Intent Mandate. Governance plane is already on the credential.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  ·  FRAME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and cart — merchant of record stays with the retailer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+ CHECKOUT</a:t>
            </a:r>
            <a:endParaRPr lang="en-US" sz="1000" dirty="0"/>
          </a:p>
        </p:txBody>
      </p:sp>
      <p:pic>
        <p:nvPicPr>
          <p:cNvPr id="9" name="Image 0" descr="/home/workdir/artifacts/rendered/ZcZZ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443" y="786384"/>
            <a:ext cx="8064635" cy="54132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6272784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path (bright) keeps the merchant as MoR. Grey ACP in-surface path is the retreated Instant Checkout model.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  ·  FRAME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and authorise — provisioning before the agent shops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+ MONEY</a:t>
            </a:r>
            <a:endParaRPr lang="en-US" sz="1000" dirty="0"/>
          </a:p>
        </p:txBody>
      </p:sp>
      <p:pic>
        <p:nvPicPr>
          <p:cNvPr id="9" name="Image 0" descr="/home/workdir/artifacts/rendered/6n3Z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443" y="786384"/>
            <a:ext cx="8064635" cy="54132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6272784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is the distribution fight: the card must already sit in the agent’s permission set. PAN never reaches the agent.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  ·  FRAME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Fulfillment — liability left as a living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PLANE</a:t>
            </a:r>
            <a:endParaRPr lang="en-US" sz="1000" dirty="0"/>
          </a:p>
        </p:txBody>
      </p:sp>
      <p:pic>
        <p:nvPicPr>
          <p:cNvPr id="9" name="Image 0" descr="/home/workdir/artifacts/rendered/TbtM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443" y="786384"/>
            <a:ext cx="8064635" cy="54132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6272784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chain and audit log are visible. Formal chargeback rules and Reg E treatment of agent error remain unsettled.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PATH  ·  STRIPE LIGHT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instructs agent → transaction in the issuer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DIAGRAM</a:t>
            </a:r>
            <a:endParaRPr lang="en-US" sz="1000" dirty="0"/>
          </a:p>
        </p:txBody>
      </p:sp>
      <p:pic>
        <p:nvPicPr>
          <p:cNvPr id="9" name="Image 0" descr="/home/workdir/artifacts/imagine_images/2uB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16" y="786384"/>
            <a:ext cx="8044688" cy="54132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6272784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Eight-step Agent Pay path with the Intent / Cart / Payment chain and an issuer-app posting.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PATH  ·  EARLIER DARK RENDER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path, original dark rendering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pic>
        <p:nvPicPr>
          <p:cNvPr id="9" name="Image 0" descr="/home/workdir/artifacts/imagine_images/JpVsj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16" y="786384"/>
            <a:ext cx="8044688" cy="54132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6272784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as a working alternative. Content is identical to the light diagram — only the theme differs.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 ·  EIGHT STEPS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user instruction to the transaction in the issuer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 Agent Pay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768096"/>
            <a:ext cx="1164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Precondition: the card is already provisioned into the agent’s permission set (top of mandate). If it is not, it never enters the consideration 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635B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states the goal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“Trail shoes under $150, arriving Friday.” Surface owns the first question.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00784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73936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773936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73936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mandate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73936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signs once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73936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VC: scope, budget, expiry, agent identity. Governance plane starts here.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73552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56DAE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94176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73552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73552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reads catalogue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73552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manifests + MCP endpoints. Unstructured merchants drop out.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0016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3792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73168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73168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edge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TAP / Web Bot Auth at Cloudflare/Akamai. Known agent vs scraper.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99632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72784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4B44C8"/>
          </a:solidFill>
          <a:ln/>
        </p:spPr>
      </p:sp>
      <p:sp>
        <p:nvSpPr>
          <p:cNvPr id="40" name="Text 38"/>
          <p:cNvSpPr/>
          <p:nvPr/>
        </p:nvSpPr>
        <p:spPr>
          <a:xfrm>
            <a:off x="6272784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93408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72784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mandate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72784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 is bound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72784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VC locks items, merchant, price. This signature is later dispute evidence.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99248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0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56DAE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0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93024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72400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+ MDES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0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 Mastercard Agentic Token. PAN never reaches the agent.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198864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72016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56DAE"/>
          </a:solidFill>
          <a:ln/>
        </p:spPr>
      </p:sp>
      <p:sp>
        <p:nvSpPr>
          <p:cNvPr id="54" name="Text 52"/>
          <p:cNvSpPr/>
          <p:nvPr/>
        </p:nvSpPr>
        <p:spPr>
          <a:xfrm>
            <a:off x="9272016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92640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272016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272016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decides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272016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carries agent ID + mandate ref. Approve wrong = fraud; decline wrong = switch.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698480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71632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635BFF"/>
          </a:solidFill>
          <a:ln/>
        </p:spPr>
      </p:sp>
      <p:sp>
        <p:nvSpPr>
          <p:cNvPr id="61" name="Text 59"/>
          <p:cNvSpPr/>
          <p:nvPr/>
        </p:nvSpPr>
        <p:spPr>
          <a:xfrm>
            <a:off x="10771632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192256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0771632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app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771632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 it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771632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Posted txn with agent flag, merchant, amount, mandate chain, dispute path.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01168" y="4187952"/>
            <a:ext cx="7644384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297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SIGNED CHAIN THAT TRAVELS WITH THE PURCHASE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590288"/>
            <a:ext cx="2304288" cy="1700784"/>
          </a:xfrm>
          <a:prstGeom prst="roundRect">
            <a:avLst>
              <a:gd name="adj" fmla="val 3226"/>
            </a:avLst>
          </a:prstGeom>
          <a:solidFill>
            <a:srgbClr val="EEF0FF"/>
          </a:solidFill>
          <a:ln w="12700">
            <a:solidFill>
              <a:srgbClr val="A99D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6817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Mandate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57200" y="4992624"/>
            <a:ext cx="2121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Goal, budget, expiry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by user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834640" y="4590288"/>
            <a:ext cx="2304288" cy="1700784"/>
          </a:xfrm>
          <a:prstGeom prst="roundRect">
            <a:avLst>
              <a:gd name="adj" fmla="val 3226"/>
            </a:avLst>
          </a:prstGeom>
          <a:solidFill>
            <a:srgbClr val="EEF0FF"/>
          </a:solidFill>
          <a:ln w="12700">
            <a:solidFill>
              <a:srgbClr val="A99DF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34640" y="46817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Mandate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2926080" y="4992624"/>
            <a:ext cx="2121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+ merchant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price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evidence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303520" y="4590288"/>
            <a:ext cx="2304288" cy="1700784"/>
          </a:xfrm>
          <a:prstGeom prst="roundRect">
            <a:avLst>
              <a:gd name="adj" fmla="val 3226"/>
            </a:avLst>
          </a:prstGeom>
          <a:solidFill>
            <a:srgbClr val="EEF0FF"/>
          </a:solidFill>
          <a:ln w="12700">
            <a:solidFill>
              <a:srgbClr val="A99D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03520" y="46817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credential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394960" y="4992624"/>
            <a:ext cx="2121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Issuer-issued token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to both VCs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Single-use, scoped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973568" y="4187952"/>
            <a:ext cx="393192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19872" y="4297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ISSUER APP SHOWS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119872" y="4590288"/>
            <a:ext cx="3657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+ amount + 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Agent-originated flag (instrument now)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reference / agent identity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last-4, not the PAN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path: user · merchant ·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formal chargeback rules pending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SWIMLANE  ·  WHO DOES WHAT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issuer only touches provision, credential, auth, and the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plane cuts every lane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11795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024128"/>
            <a:ext cx="14173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024128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Cardholder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975104"/>
            <a:ext cx="11795760" cy="987552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084832"/>
            <a:ext cx="14173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4B4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848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3035808"/>
            <a:ext cx="11795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3145536"/>
            <a:ext cx="14173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145536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edge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4096512"/>
            <a:ext cx="11795760" cy="987552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4206240"/>
            <a:ext cx="14173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4206240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Pay / MDES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5157216"/>
            <a:ext cx="11795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5266944"/>
            <a:ext cx="14173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5266944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+ app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0" y="1069848"/>
            <a:ext cx="138988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83664" y="11064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States goal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83664" y="13807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10128" y="1069848"/>
            <a:ext cx="1444752" cy="676656"/>
          </a:xfrm>
          <a:prstGeom prst="roundRect">
            <a:avLst>
              <a:gd name="adj" fmla="val 6757"/>
            </a:avLst>
          </a:prstGeom>
          <a:solidFill>
            <a:srgbClr val="EEF0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110642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Signs Intent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4992" y="13807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 · budget · expiry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27648" y="1069848"/>
            <a:ext cx="1444752" cy="676656"/>
          </a:xfrm>
          <a:prstGeom prst="roundRect">
            <a:avLst>
              <a:gd name="adj" fmla="val 6757"/>
            </a:avLst>
          </a:prstGeom>
          <a:solidFill>
            <a:srgbClr val="EEF0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110642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Signs Cart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82512" y="13807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· merchant · $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168128" y="1069848"/>
            <a:ext cx="1645920" cy="676656"/>
          </a:xfrm>
          <a:prstGeom prst="roundRect">
            <a:avLst>
              <a:gd name="adj" fmla="val 6757"/>
            </a:avLst>
          </a:prstGeom>
          <a:solidFill>
            <a:srgbClr val="E8F4F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22992" y="110642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Sees it in app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22992" y="138074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flag + path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0" y="2130552"/>
            <a:ext cx="138988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83664" y="2167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first ask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83664" y="2441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 set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130552"/>
            <a:ext cx="138988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2167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Discovers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01184" y="2441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+ MCP feeds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27648" y="2130552"/>
            <a:ext cx="14447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216712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basket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82512" y="24414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mandate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863840" y="2130552"/>
            <a:ext cx="129844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18704" y="2167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pay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18704" y="2441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holds PAN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3191256"/>
            <a:ext cx="138988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01184" y="32278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01184" y="3502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invisible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63840" y="3191256"/>
            <a:ext cx="129844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18704" y="32278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IDs agent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918704" y="3502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/ Bot Auth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253728" y="3191256"/>
            <a:ext cx="141732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08592" y="322783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 checkout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308592" y="350215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path (live)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63840" y="4251960"/>
            <a:ext cx="1298448" cy="676656"/>
          </a:xfrm>
          <a:prstGeom prst="roundRect">
            <a:avLst>
              <a:gd name="adj" fmla="val 6757"/>
            </a:avLst>
          </a:prstGeom>
          <a:solidFill>
            <a:srgbClr val="FFF3E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18704" y="42885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rules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918704" y="45628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253728" y="4251960"/>
            <a:ext cx="1417320" cy="676656"/>
          </a:xfrm>
          <a:prstGeom prst="roundRect">
            <a:avLst>
              <a:gd name="adj" fmla="val 6757"/>
            </a:avLst>
          </a:prstGeom>
          <a:solidFill>
            <a:srgbClr val="FFF3E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08592" y="4288536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MDES token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308592" y="4562856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single-use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10128" y="5312664"/>
            <a:ext cx="1444752" cy="676656"/>
          </a:xfrm>
          <a:prstGeom prst="roundRect">
            <a:avLst>
              <a:gd name="adj" fmla="val 6757"/>
            </a:avLst>
          </a:prstGeom>
          <a:solidFill>
            <a:srgbClr val="E8F4F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64992" y="534924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 first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364992" y="56235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agent shops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253728" y="5312664"/>
            <a:ext cx="1417320" cy="676656"/>
          </a:xfrm>
          <a:prstGeom prst="roundRect">
            <a:avLst>
              <a:gd name="adj" fmla="val 6757"/>
            </a:avLst>
          </a:prstGeom>
          <a:solidFill>
            <a:srgbClr val="E8F4F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08592" y="534924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Auth + context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308592" y="562356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decision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753344" y="5312664"/>
            <a:ext cx="1060704" cy="676656"/>
          </a:xfrm>
          <a:prstGeom prst="roundRect">
            <a:avLst>
              <a:gd name="adj" fmla="val 6757"/>
            </a:avLst>
          </a:prstGeom>
          <a:solidFill>
            <a:srgbClr val="E8F4F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808208" y="534924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posting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808208" y="56235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to user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POINTS  ·  WHAT THE ISSUER OWNS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durable positions: provisioning, the trust decision, and app evidence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sits above the card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877824"/>
            <a:ext cx="3803904" cy="3858768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24128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635BF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0241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agent shops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" y="18288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Card enabled for Agent Pay in the agent permission 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" y="24871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Scoped limits already bound (category, merchant class, ceiling, expiry)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" y="31455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If this step is missed, the issuer is not in the consideration set at 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" y="380390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This is distribution, not product — and it compounds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877824"/>
            <a:ext cx="3803904" cy="3858768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024128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635BFF"/>
          </a:solidFill>
          <a:ln/>
        </p:spPr>
      </p:sp>
      <p:sp>
        <p:nvSpPr>
          <p:cNvPr id="20" name="Text 18"/>
          <p:cNvSpPr/>
          <p:nvPr/>
        </p:nvSpPr>
        <p:spPr>
          <a:xfrm>
            <a:off x="4370832" y="10241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+ AUTH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70832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moment of pay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70832" y="18288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MDES issues a single-use agentic token bound to both mandates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70832" y="24871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Auth message carries agent identity + mandate reference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70832" y="31455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Issuer approves or declines with agent context, not blind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70832" y="380390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PAN never leaves the vault; agent never sees the card number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56448" y="877824"/>
            <a:ext cx="3803904" cy="3858768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1024128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635BFF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10241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41664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APP + DISPUTE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it posts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21040" y="18288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Transaction visible with agent-originated flag and mandate ref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1040" y="24871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Cardholder can open the signed chain from the app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31455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Dispute must resolve to user, merchant, or agent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21040" y="380390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Formal network chargeback rules and Reg E treatment still open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56032" y="4882896"/>
            <a:ext cx="11649456" cy="1572768"/>
          </a:xfrm>
          <a:prstGeom prst="roundRect">
            <a:avLst>
              <a:gd name="adj" fmla="val 4651"/>
            </a:avLst>
          </a:prstGeom>
          <a:solidFill>
            <a:srgbClr val="EEF0FF"/>
          </a:solidFill>
          <a:ln w="12700">
            <a:solidFill>
              <a:srgbClr val="A99D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499262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WATCH-OUTS ON THIS SPECIFIC PATH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5266944"/>
            <a:ext cx="11247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Pay first went live with US issuers in Sep 2025 and extended across US cardholders in Nov 2025. That makes the rails real. It does not make checkout-inside-the-assistant real — Instant Checkout retreated. The conversion that matters is still: provisioned → discovered → signed cart → tokenised auth → visible in the issuer app. Instrument the agent flag in auth, fraud and dispute data before holiday volume arrives, or the first year of evidence is unreadable.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Commerce — Storyboard and Issuer Path</dc:title>
  <dc:subject>Before/after storyboard frames plus functional flow</dc:subject>
  <dc:creator>Agentic Commerce Primer</dc:creator>
  <cp:lastModifiedBy>Agentic Commerce Primer</cp:lastModifiedBy>
  <cp:revision>1</cp:revision>
  <dcterms:created xsi:type="dcterms:W3CDTF">2026-08-26T20:03:10Z</dcterms:created>
  <dcterms:modified xsi:type="dcterms:W3CDTF">2026-08-26T20:03:10Z</dcterms:modified>
</cp:coreProperties>
</file>